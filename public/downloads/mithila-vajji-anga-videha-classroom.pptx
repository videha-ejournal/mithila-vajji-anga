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e6d016f82b4a0f" /><Relationship Type="http://schemas.openxmlformats.org/officeDocument/2006/relationships/extended-properties" Target="/docProps/app.xml" Id="Rf03d653a955c4129" /><Relationship Type="http://schemas.openxmlformats.org/officeDocument/2006/relationships/officeDocument" Target="/ppt/presentation.xml" Id="Rba45bf2138f24f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c0c6199d784cb9"/>
  </p:sldMasterIdLst>
  <p:notesMasterIdLst>
    <p:notesMasterId xmlns:r="http://schemas.openxmlformats.org/officeDocument/2006/relationships" r:id="R886fc240d79344eb"/>
  </p:notesMasterIdLst>
  <p:sldIdLst>
    <p:sldId xmlns:r="http://schemas.openxmlformats.org/officeDocument/2006/relationships" id="256" r:id="R5a1141fec5794e4e"/>
    <p:sldId xmlns:r="http://schemas.openxmlformats.org/officeDocument/2006/relationships" id="257" r:id="Rb8969c518d324b60"/>
    <p:sldId xmlns:r="http://schemas.openxmlformats.org/officeDocument/2006/relationships" id="258" r:id="Rf373aaecddb541d9"/>
    <p:sldId xmlns:r="http://schemas.openxmlformats.org/officeDocument/2006/relationships" id="259" r:id="R0e759697f91044ae"/>
    <p:sldId xmlns:r="http://schemas.openxmlformats.org/officeDocument/2006/relationships" id="260" r:id="Ra16a43c9a36a429d"/>
    <p:sldId xmlns:r="http://schemas.openxmlformats.org/officeDocument/2006/relationships" id="261" r:id="R30564cb5744444a4"/>
    <p:sldId xmlns:r="http://schemas.openxmlformats.org/officeDocument/2006/relationships" id="262" r:id="Rbe8c03ba262044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5dd69fb4594cae" /><Relationship Type="http://schemas.openxmlformats.org/officeDocument/2006/relationships/slideMaster" Target="/ppt/slideMasters/slideMaster1.xml" Id="R85c0c6199d784cb9" /><Relationship Type="http://schemas.openxmlformats.org/officeDocument/2006/relationships/notesMaster" Target="/ppt/notesMasters/notesMaster1.xml" Id="R886fc240d79344eb" /><Relationship Type="http://schemas.openxmlformats.org/officeDocument/2006/relationships/presProps" Target="/ppt/presProps.xml" Id="Reafa9b1864da4541" /><Relationship Type="http://schemas.openxmlformats.org/officeDocument/2006/relationships/tableStyles" Target="/ppt/tableStyles.xml" Id="R822c77d3d6b644b8" /><Relationship Type="http://schemas.openxmlformats.org/officeDocument/2006/relationships/slide" Target="/ppt/slides/slide1.xml" Id="R5a1141fec5794e4e" /><Relationship Type="http://schemas.openxmlformats.org/officeDocument/2006/relationships/slide" Target="/ppt/slides/slide2.xml" Id="Rb8969c518d324b60" /><Relationship Type="http://schemas.openxmlformats.org/officeDocument/2006/relationships/slide" Target="/ppt/slides/slide3.xml" Id="Rf373aaecddb541d9" /><Relationship Type="http://schemas.openxmlformats.org/officeDocument/2006/relationships/slide" Target="/ppt/slides/slide4.xml" Id="R0e759697f91044ae" /><Relationship Type="http://schemas.openxmlformats.org/officeDocument/2006/relationships/slide" Target="/ppt/slides/slide5.xml" Id="Ra16a43c9a36a429d" /><Relationship Type="http://schemas.openxmlformats.org/officeDocument/2006/relationships/slide" Target="/ppt/slides/slide6.xml" Id="R30564cb5744444a4" /><Relationship Type="http://schemas.openxmlformats.org/officeDocument/2006/relationships/slide" Target="/ppt/slides/slide7.xml" Id="Rbe8c03ba262044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a678aa993042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1a32672cc645d0" /><Relationship Type="http://schemas.openxmlformats.org/officeDocument/2006/relationships/notesMaster" Target="/ppt/notesMasters/notesMaster1.xml" Id="R7d3b09b232ea44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fd2e81532c426f" /><Relationship Type="http://schemas.openxmlformats.org/officeDocument/2006/relationships/notesMaster" Target="/ppt/notesMasters/notesMaster1.xml" Id="Rfc196242bbd84e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6849d5ec4b49a2" /><Relationship Type="http://schemas.openxmlformats.org/officeDocument/2006/relationships/notesMaster" Target="/ppt/notesMasters/notesMaster1.xml" Id="R12f03b5106a44b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06e6018def45e0" /><Relationship Type="http://schemas.openxmlformats.org/officeDocument/2006/relationships/notesMaster" Target="/ppt/notesMasters/notesMaster1.xml" Id="R778337a201164c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edba945ad44b47" /><Relationship Type="http://schemas.openxmlformats.org/officeDocument/2006/relationships/notesMaster" Target="/ppt/notesMasters/notesMaster1.xml" Id="R7ff2d6ddfc9e44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8421f330084dcd" /><Relationship Type="http://schemas.openxmlformats.org/officeDocument/2006/relationships/notesMaster" Target="/ppt/notesMasters/notesMaster1.xml" Id="R9fc353bb3b1848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f41587d9b341b6" /><Relationship Type="http://schemas.openxmlformats.org/officeDocument/2006/relationships/notesMaster" Target="/ppt/notesMasters/notesMaster1.xml" Id="Rda7e838c95f746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frame. Introduce the archive as a linked practice of reading sources, locating evidence, testing arguments, and translating inherited knowledge. Original editorial illustration created for this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orientation map prepared for A History of Mithila, Vajji and Anga, 2026. Explain that regional names and boundaries change across periods.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resist compressed chronology. Each anchor represents an evidence horizon rather than an uncontested event 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Decoding the Panji of Mithila, Volumes I–VI, by Gajendra Thakur. The diagram is an editable conceptual map, not a genealogical reconstruction.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Gajendra Thakur’s Parallel Philosophy. The five-stage structure summarizes the site’s research presentation, while chapter-level formulations remain available in the digital archive.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Maithili translations by Gajendra Thakur of works by Udayanācārya, Vācaspati Miśra, and Gaṅgeśa Upādhyāya. Covers supplied by the author/editor.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 slide. Invite readers to use the live site for source-level details, chapter headings, indexed people, and further updates.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193dcb3f8e47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c6c908b65d4552" /><Relationship Type="http://schemas.openxmlformats.org/officeDocument/2006/relationships/slideLayout" Target="/ppt/slideLayouts/slideLayout1.xml" Id="Re15b223ec90f4c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5b223ec90f4c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6e7b52c1c49f3" /><Relationship Type="http://schemas.openxmlformats.org/officeDocument/2006/relationships/image" Target="/ppt/media/image.png" Id="R11ad764f0487436f" /><Relationship Type="http://schemas.openxmlformats.org/officeDocument/2006/relationships/notesSlide" Target="/ppt/notesSlides/notesSlide1.xml" Id="R81e464ec8bda4a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2d883d44e47ad" /><Relationship Type="http://schemas.openxmlformats.org/officeDocument/2006/relationships/image" Target="/ppt/media/image2.png" Id="Rb2f18475795b4318" /><Relationship Type="http://schemas.openxmlformats.org/officeDocument/2006/relationships/notesSlide" Target="/ppt/notesSlides/notesSlide2.xml" Id="Rce2de771c1974d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87f83554c4050" /><Relationship Type="http://schemas.openxmlformats.org/officeDocument/2006/relationships/notesSlide" Target="/ppt/notesSlides/notesSlide3.xml" Id="R5c445d01eba840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fcf2b53914d81" /><Relationship Type="http://schemas.openxmlformats.org/officeDocument/2006/relationships/image" Target="/ppt/media/image.bin" Id="R773b1ea4172d4f9a" /><Relationship Type="http://schemas.openxmlformats.org/officeDocument/2006/relationships/notesSlide" Target="/ppt/notesSlides/notesSlide4.xml" Id="Rcfd07bdb642440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fc1498c854d80" /><Relationship Type="http://schemas.openxmlformats.org/officeDocument/2006/relationships/notesSlide" Target="/ppt/notesSlides/notesSlide5.xml" Id="R0810c5dab3d141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a0636aebd43ba" /><Relationship Type="http://schemas.openxmlformats.org/officeDocument/2006/relationships/image" Target="/ppt/media/image2.bin" Id="Rc2aadc5b03bc40af" /><Relationship Type="http://schemas.openxmlformats.org/officeDocument/2006/relationships/image" Target="/ppt/media/image3.bin" Id="Ra9c615fe65594200" /><Relationship Type="http://schemas.openxmlformats.org/officeDocument/2006/relationships/image" Target="/ppt/media/image4.bin" Id="Rb2f20580f08b4f7c" /><Relationship Type="http://schemas.openxmlformats.org/officeDocument/2006/relationships/image" Target="/ppt/media/image5.bin" Id="R1554fb44f757413a" /><Relationship Type="http://schemas.openxmlformats.org/officeDocument/2006/relationships/notesSlide" Target="/ppt/notesSlides/notesSlide6.xml" Id="R7cc189c8d696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ac1e043f44491" /><Relationship Type="http://schemas.openxmlformats.org/officeDocument/2006/relationships/notesSlide" Target="/ppt/notesSlides/notesSlide7.xml" Id="R785ea64b4f254b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A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ad764f0487436f"/>
          <a:srcRect xmlns:a="http://schemas.openxmlformats.org/drawingml/2006/main" l="0" t="18420" r="0" b="184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4333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0F140-F754-47A1-A55D-93894C18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E3025-E78E-4C31-A59B-41093F64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MITHILA–VAJJI–ANGA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82E98-4E4D-4AE7-90F9-9EADF9B3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904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Five ways into the archive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D3FAD-17C8-4DF9-8370-B6BE9962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809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AD3E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AD3E0"/>
                </a:solidFill>
                <a:latin typeface="Arial"/>
                <a:ea typeface="Arial"/>
                <a:cs typeface="Arial"/>
              </a:rPr>
              <a:t>A seminar deck for the Videha historical research ecosystem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CF4ACE-D641-4E63-AC60-05D293FE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388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Gajendra Thakur · Videha Maithili eJournal · 2026</a:t>
            </a:r>
          </a:p>
        </p:txBody>
      </p:sp>
    </p:spTree>
    <p:extLst>
      <p:ext uri="{BB962C8B-B14F-4D97-AF65-F5344CB8AC3E}">
        <p14:creationId xmlns:p14="http://schemas.microsoft.com/office/powerpoint/2010/main" val="1263525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934DC5-2FFF-4DDC-9C7B-2DB7956E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REGIONAL 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270B7-20A0-4A5D-ADFB-A70EC963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985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Mithila, Vajji, and Anga in connected histories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33EFC-9973-4C5C-BCE2-EC13BFAE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18475795b4318"/>
          <a:srcRect xmlns:a="http://schemas.openxmlformats.org/drawingml/2006/main" l="0" t="21028" r="0" b="21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24000"/>
            <a:ext cx="5095875" cy="4429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D6CF4-E897-4B96-9EA6-2D0B80B5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47212-AE63-4900-9038-BEE9E0EF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002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159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Mithila / Videha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045E2-30C5-44C5-A5E6-74297EA4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812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Courtly, scholastic, sacred, literary, and genealogical histories across present-day India and Nepal.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B26E1E-A602-41C0-9274-827220E0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337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0581F-37B5-4F88-B306-677F47E3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146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159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Vajji / Vaiśālī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24CA13-3A2C-4CBD-88A1-0E4C16DB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Corporate polity, Buddhist and Jain itineraries, and the material landscape of Basarh and Kolhua.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6A905-6D62-4A18-8383-7CC78E6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BE954-2C92-4BB5-A511-5FFD672D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29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159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Anga / Campā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959B3B-D212-49B8-887D-068C3890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101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Eastern political centre and commercial corridor connected to the Ganga and wider religious networks.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8190B-AAD3-4BA2-A4FC-1A252AE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19750"/>
            <a:ext cx="49530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D6AD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F478D-C35F-47C3-BF91-4B9D5A4B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7531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512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8410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8410D"/>
                </a:solidFill>
                <a:latin typeface="Arial"/>
                <a:ea typeface="Arial"/>
                <a:cs typeface="Arial"/>
              </a:rPr>
              <a:t>Modern coordinates orient the reader. They do not recreate ancient frontiers.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B9305C-BCC0-46FE-8BCA-FDF8F340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9D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35D29-41E4-4E94-A064-20D4AD37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VIDEHA MAITHILI eJOURNAL · ISSN 2229-547X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E78A1E-0530-4B35-97D7-92A0B2C3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800429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7CBFF6-7127-4B59-88A6-8D0137EC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CHRONOLOGY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3F369-401A-4322-A9EF-52B9C8FE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985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A layered timeline replaces a single origin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B772C-6E50-4513-A3D1-361D3739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E9C6B-F781-43AD-8D2C-3725C72F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5AEF3-781F-4AC4-9E47-7E9C6529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289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A4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94120-F767-4E17-9C19-B29E2BCE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Later Vedic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6BC10C-AD89-4AB1-A064-55D8BC23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Videha and the Sadanīrā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9EDB7-407D-40D6-A2D1-4B7C97FE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0289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66A1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709C3C-4A2A-437A-9C66-E37D6883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571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c. 6th–5th c. BCE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04F57-0D24-42D3-958A-F83711CD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94335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Vajji, Anga, and renunciant routes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F3784-5F7C-4DCC-B5BD-07F4CDD9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289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A4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6E85E-9CBF-4700-8739-D14C67C2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383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Medieval centuries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67A1CB-AD8F-45C2-BDBA-9EB2875F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Commentary and scholastic Mithila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EE9F28-40FB-4E48-A1CD-618F78E2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289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66A14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F7982-CDD7-4D05-B2AD-94708133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71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Long duration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0BE5F-970F-45B3-955B-8233318B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4335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Panji memory and settlement networks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8A31DD-B53B-4F67-A446-D2EF384C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A4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61556F-032F-4686-A464-8168F0C8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383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Modern period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054906-654B-4D75-9BD1-39AA25DF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0300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57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Print, Maithili translation, and Videha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40AB44-04CC-40AB-814D-F26AC987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8637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Different forms of evidence carry different kinds of certainty. Texts, archaeology, inscriptions, genealogy, and living tradition must remain distinguishable.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94AC1E-8461-4D79-9176-4DF7EC99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9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A2E832-030B-4574-B70B-D7969B6E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VIDEHA MAITHILI eJOURNAL · ISSN 2229-547X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C9457-AA17-43E0-B767-FE044E4D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294129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FCDF38-3710-4D15-8EBD-8C27F65B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PANJI ARCHIVE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CDE2D-5BA3-4574-9FF7-C3527B10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985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Genealogy becomes a network of social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3E146-CB88-4E5C-AE45-D576B62B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3b1ea4172d4f9a"/>
          <a:stretch xmlns:a="http://schemas.openxmlformats.org/drawingml/2006/main"/>
        </p:blipFill>
        <p:spPr>
          <a:xfrm xmlns:a="http://schemas.openxmlformats.org/drawingml/2006/main">
            <a:off x="715605" y="1600200"/>
            <a:ext cx="2950289" cy="4429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3D792-F4D5-43EB-8C70-513F9A4E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52625"/>
            <a:ext cx="22383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35A4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4412F-7F8A-46D8-AC22-451EC55D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24075"/>
            <a:ext cx="1971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Mūla and lineage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2E000-E40E-4F44-9030-3E43FCE0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52625"/>
            <a:ext cx="22383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66A1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EED2D-68B7-41FA-8456-D2E8CFDE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124075"/>
            <a:ext cx="1971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Marriage links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95E765-0396-4F8C-8181-38275672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714750"/>
            <a:ext cx="22383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315D9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068ED-2DFD-477E-85CE-B6DCB0E1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971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Village corridors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2DDE9-E353-47E0-9A33-2C580435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14750"/>
            <a:ext cx="22383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83400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20B1BA-8AE4-486A-B6E4-92B9C37B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886200"/>
            <a:ext cx="1971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Titles and occupations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82B0F2-E530-4C74-B780-7585BADD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095875"/>
            <a:ext cx="22383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F1FCB5-6EF5-41EC-BC43-ECF6A585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5267325"/>
            <a:ext cx="1971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Ethical reading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54FAB-28F9-4B73-92F2-987CAD8D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The six-volume series treats abbreviated entries as evidence that requires grammar, indexes, historical context, and care around inherited stigma.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552B4B-47B0-44DD-B23F-31CE0F99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9D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543525-7C4B-494C-AE7B-C7C99FD8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VIDEHA MAITHILI eJOURNAL · ISSN 2229-547X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9A2F8C-1768-4BFB-866E-3164A5AA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970484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A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5AF7CE-5071-4F21-ABF6-21653798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PARALLEL PHILOSOPHY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1FD7F-F0DF-41F1-9A8F-CC94739A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Objection and response form a method of inquiry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91580-C05C-46DF-A8CE-59FDD325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980C9-3C47-4F28-8A4D-0E199FC1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981200" cy="20002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1C3152"/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D3ADE-9F7F-4963-BEF3-61533492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D7670-EFE3-4543-8BC2-0F44DE4F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546E0-5F9B-44A4-9A89-AAF6335C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1638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C7D1D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D1DF"/>
                </a:solidFill>
                <a:latin typeface="Arial"/>
                <a:ea typeface="Arial"/>
                <a:cs typeface="Arial"/>
              </a:rPr>
              <a:t>State the claim precisely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24D50-675B-4933-9E41-B6E6B1ED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1981200" cy="20002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7F3E10"/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AF52F-A306-4C05-A024-3035B74F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C3F27-19F3-4057-9881-3DD28B54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765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PŪRVAPAKṢA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04F76-4546-4113-AA3C-5CF89A20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81375"/>
            <a:ext cx="1638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C7D1D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D1DF"/>
                </a:solidFill>
                <a:latin typeface="Arial"/>
                <a:ea typeface="Arial"/>
                <a:cs typeface="Arial"/>
              </a:rPr>
              <a:t>Give the strongest objection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27D35C-2A46-4571-BC0E-BE3E78CC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981200" cy="20002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1C3152"/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B94131-58AF-4A14-B689-25A309D9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50D8CA-C529-4CE0-96DB-5A918F8E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765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PROOF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02FB9-D66E-4B62-9971-8D338541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81375"/>
            <a:ext cx="1638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C7D1D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D1DF"/>
                </a:solidFill>
                <a:latin typeface="Arial"/>
                <a:ea typeface="Arial"/>
                <a:cs typeface="Arial"/>
              </a:rPr>
              <a:t>Examine pramāṇa and inference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A8505-3367-4843-A67F-9DEB1500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90750"/>
            <a:ext cx="1981200" cy="20002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235A46"/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290D6F-FAE5-4AA3-A834-AFE0DB03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9292DD-82C0-47B7-8584-5BD8A1E1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765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UTTARAPAKṢA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911F9C-B42D-4C3A-9FB3-AFFC4219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81375"/>
            <a:ext cx="1638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C7D1D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D1DF"/>
                </a:solidFill>
                <a:latin typeface="Arial"/>
                <a:ea typeface="Arial"/>
                <a:cs typeface="Arial"/>
              </a:rPr>
              <a:t>Answer without weakening the objection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BB0F2-6D67-428B-981B-030791E0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90750"/>
            <a:ext cx="1981200" cy="200025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1C3152"/>
          </a:solidFill>
          <a:ln xmlns:a="http://schemas.openxmlformats.org/drawingml/2006/main" w="9525">
            <a:solidFill>
              <a:srgbClr val="FFFFFF">
                <a:alpha val="13333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54A941-DA30-4915-BE69-FEE5952B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8125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D3167-C9EF-48E2-B338-134FF8B0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765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SYNTHESIS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FE0B15-92A3-49BE-894E-755EBB96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381375"/>
            <a:ext cx="1638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C7D1D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D1DF"/>
                </a:solidFill>
                <a:latin typeface="Arial"/>
                <a:ea typeface="Arial"/>
                <a:cs typeface="Arial"/>
              </a:rPr>
              <a:t>Retain what survives criticism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23986C-A3AF-405C-99A9-04172E59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053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2DA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2DAE5"/>
                </a:solidFill>
                <a:latin typeface="Arial"/>
                <a:ea typeface="Arial"/>
                <a:cs typeface="Arial"/>
              </a:rPr>
              <a:t>The method links Indian and Western philosophy while keeping historical vocabulary, evidence, and disagreement visible.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61C093-7703-4E3D-B8E1-69785022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9FABBC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9FABBC"/>
                </a:solidFill>
                <a:latin typeface="Arial"/>
                <a:ea typeface="Arial"/>
                <a:cs typeface="Arial"/>
              </a:rPr>
              <a:t>VIDEHA MAITHILI eJOURNAL · ISSN 2229-547X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E883B1-AD8C-4744-925D-016EEE7C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9FABBC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9FABBC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885578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D129A-9B9B-4089-9541-E5DC5C78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SANSKRIT INTO MAITHILI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0B43E-03E2-4C71-BC51-37B8BA88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985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Four translations sustain a living philosophical language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5C9E3-F4CA-4271-B7C7-0AA08F88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adc5b03bc40af"/>
          <a:stretch xmlns:a="http://schemas.openxmlformats.org/drawingml/2006/main"/>
        </p:blipFill>
        <p:spPr>
          <a:xfrm xmlns:a="http://schemas.openxmlformats.org/drawingml/2006/main">
            <a:off x="685800" y="1638300"/>
            <a:ext cx="1809750" cy="2714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F36DA-3CAB-4C9E-9C9A-A1CC4128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Ātmatattvaviveka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8511D-8387-4BF5-A2A4-9780FE57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Self and metaphysics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615fe65594200"/>
          <a:stretch xmlns:a="http://schemas.openxmlformats.org/drawingml/2006/main"/>
        </p:blipFill>
        <p:spPr>
          <a:xfrm xmlns:a="http://schemas.openxmlformats.org/drawingml/2006/main">
            <a:off x="3505200" y="1638300"/>
            <a:ext cx="1809750" cy="27146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28B6F-C4F6-49AC-88F1-2312EF34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Bhāmatī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3B73D-ADEC-439B-A804-B2CBB25B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Advaita commentary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20580f08b4f7c"/>
          <a:stretch xmlns:a="http://schemas.openxmlformats.org/drawingml/2006/main"/>
        </p:blipFill>
        <p:spPr>
          <a:xfrm xmlns:a="http://schemas.openxmlformats.org/drawingml/2006/main">
            <a:off x="6324600" y="1638300"/>
            <a:ext cx="1809750" cy="2714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73C506-B66C-4A2F-9007-F368FA98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Nyāyakusumāñjali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0ED05-703C-40CA-800D-FD265472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Nyāya arguments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4fb44f757413a"/>
          <a:stretch xmlns:a="http://schemas.openxmlformats.org/drawingml/2006/main"/>
        </p:blipFill>
        <p:spPr>
          <a:xfrm xmlns:a="http://schemas.openxmlformats.org/drawingml/2006/main">
            <a:off x="9144000" y="1638300"/>
            <a:ext cx="1809750" cy="271462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446438-2ADC-46A4-8596-D82610A6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Tattvacintāmaṇi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A9214-5F5B-4F6E-989C-2CE0838A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Navya-Nyāya epistemology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DBF8A-1F9C-4455-9DE4-B35CCB1B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197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148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Translation carries technical argument into Maithili while preserving the source text, philosophical vocabulary, and the translator’s critical apparatus.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9F272E-2855-4960-8B15-2F7670F0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9D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B7F078-0085-4C18-B686-3FD35F04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VIDEHA MAITHILI eJOURNAL · ISSN 2229-547X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4CDE55-D668-4219-A77B-6C018126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84613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8E7094-71BD-463D-9BC3-187120F2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DIGITAL RESEARCH ECOSYSTEM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A4B0F-52A9-43A8-B0F7-97797CA0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985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Five research rooms now work 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779A9-D503-4C18-A81F-6AE755EE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66A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66A1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24180-520F-48F6-B812-DDA31AD7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EFDE1-3715-4FF2-B79C-C9EF3F5A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308F7-9635-4E83-ADAF-004FA91B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38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Book exhibitions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05EE2-F545-4655-81BC-5EE1E462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7167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Covers, synopsis, metadata, contents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5A87F-1BB4-4C79-8111-F96229D9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66A1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9CE6C5-621E-4B22-817B-0A8FFD72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193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E946F-99DC-43AA-A1E5-23C9B5CD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765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Historical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5384A-BD24-421D-B8F9-BC060CF3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0987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Period slider and evidence layers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A8237-AA84-4F8D-8548-D407E9FD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BB51B-966B-433F-BC4C-EBEDA7D9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D97431-BDFC-4714-9CAB-45C9BA29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14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Knowledge graph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0AC23-92E8-48EF-9DEF-D829A68E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4807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People, places, texts, and ideas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7EED5-73B2-4537-A539-5E636DC0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66A1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0FF7C8-C6B8-4345-A822-AA813AD7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957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BF7DC7-4635-4AAA-B1C7-1013A467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529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Multiscript reader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7EA920-B750-4FBC-AF4E-A426A96F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8627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English, Maithili, Devanagari, Tirhuta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6E53F1-66C2-49C2-8607-78988C1C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96598-85A1-4E9D-8F00-C2D7E62D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339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CD73FB-14E6-439E-82EB-9CC94421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91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1A2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A2D"/>
                </a:solidFill>
                <a:latin typeface="Arial"/>
                <a:ea typeface="Arial"/>
                <a:cs typeface="Arial"/>
              </a:rPr>
              <a:t>Videha classroom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9EACB-18BA-454F-8389-61C1B131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24475"/>
            <a:ext cx="447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667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069"/>
                </a:solidFill>
                <a:latin typeface="Arial"/>
                <a:ea typeface="Arial"/>
                <a:cs typeface="Arial"/>
              </a:rPr>
              <a:t>Illustration, narration, and teaching deck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913F21-F9B9-46C4-864D-E469F4F4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14500"/>
            <a:ext cx="4476750" cy="3600450"/>
          </a:xfrm>
          <a:prstGeom xmlns:a="http://schemas.openxmlformats.org/drawingml/2006/main" prst="roundRect">
            <a:avLst>
              <a:gd name="adj" fmla="val 2116"/>
            </a:avLst>
          </a:prstGeom>
          <a:solidFill xmlns:a="http://schemas.openxmlformats.org/drawingml/2006/main">
            <a:srgbClr val="101A2D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2F3ACC-F7E2-48C3-85ED-30FFCD39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431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Continue the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CB6366-5CEF-449A-ADEF-A660A5D4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86075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videha-ejournal.github.io/</a:t>
            </a:r>
          </a:p>
          <a:p xmlns:a="http://schemas.openxmlformats.org/drawingml/2006/main">
            <a:pPr>
              <a:defRPr sz="1575" b="1">
                <a:solidFill>
                  <a:srgbClr val="E8BC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8BC6D"/>
                </a:solidFill>
                <a:latin typeface="Arial"/>
                <a:ea typeface="Arial"/>
                <a:cs typeface="Arial"/>
              </a:rPr>
              <a:t>mithila-vajji-anga/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A5DB59-94FA-46C9-8363-3C68EC4C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290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AD3E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AD3E0"/>
                </a:solidFill>
                <a:latin typeface="Arial"/>
                <a:ea typeface="Arial"/>
                <a:cs typeface="Arial"/>
              </a:rPr>
              <a:t>www.videha.co.in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8334DC-FAD3-44AD-AE05-58B160C5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958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CAD3E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AD3E0"/>
                </a:solidFill>
                <a:latin typeface="Arial"/>
                <a:ea typeface="Arial"/>
                <a:cs typeface="Arial"/>
              </a:rPr>
              <a:t>Gajendra Thakur, Editor</a:t>
            </a:r>
          </a:p>
          <a:p xmlns:a="http://schemas.openxmlformats.org/drawingml/2006/main">
            <a:pPr>
              <a:defRPr sz="1125" b="0">
                <a:solidFill>
                  <a:srgbClr val="CAD3E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AD3E0"/>
                </a:solidFill>
                <a:latin typeface="Arial"/>
                <a:ea typeface="Arial"/>
                <a:cs typeface="Arial"/>
              </a:rPr>
              <a:t>Videha Maithili eJournal</a:t>
            </a:r>
          </a:p>
          <a:p xmlns:a="http://schemas.openxmlformats.org/drawingml/2006/main">
            <a:pPr>
              <a:defRPr sz="1125" b="0">
                <a:solidFill>
                  <a:srgbClr val="CAD3E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AD3E0"/>
                </a:solidFill>
                <a:latin typeface="Arial"/>
                <a:ea typeface="Arial"/>
                <a:cs typeface="Arial"/>
              </a:rPr>
              <a:t>ISSN 2229-547X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021827-9131-4432-B8B2-10E1DCA5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9D4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D2B949-DD5D-453A-BDDE-ABA4893B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VIDEHA MAITHILI eJOURNAL · ISSN 2229-547X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A261EA-53E7-4E4C-A7E4-FB75E4FB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67069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6706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695198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2026-09-04T07:15:23.5990000Z</dcterms:created>
  <dcterms:modified xsi:type="dcterms:W3CDTF">2026-09-04T07:15:23.5990000Z</dcterms:modified>
</coreProperties>
</file>