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fee5a0903b48d5" /><Relationship Type="http://schemas.openxmlformats.org/officeDocument/2006/relationships/extended-properties" Target="/docProps/app.xml" Id="R7735cc5d136243cc" /><Relationship Type="http://schemas.openxmlformats.org/officeDocument/2006/relationships/officeDocument" Target="/ppt/presentation.xml" Id="R6c360ccac29441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279f61479f4fd6"/>
  </p:sldMasterIdLst>
  <p:notesMasterIdLst>
    <p:notesMasterId xmlns:r="http://schemas.openxmlformats.org/officeDocument/2006/relationships" r:id="R96d2fb1e08e34e38"/>
  </p:notesMasterIdLst>
  <p:sldIdLst>
    <p:sldId xmlns:r="http://schemas.openxmlformats.org/officeDocument/2006/relationships" id="256" r:id="R8cb240e136f947ff"/>
    <p:sldId xmlns:r="http://schemas.openxmlformats.org/officeDocument/2006/relationships" id="257" r:id="R1664bd7c106543ce"/>
    <p:sldId xmlns:r="http://schemas.openxmlformats.org/officeDocument/2006/relationships" id="258" r:id="R5e1a5a34ef48438e"/>
    <p:sldId xmlns:r="http://schemas.openxmlformats.org/officeDocument/2006/relationships" id="259" r:id="R4f04d35b38ed4214"/>
    <p:sldId xmlns:r="http://schemas.openxmlformats.org/officeDocument/2006/relationships" id="260" r:id="Ra5dde7be3a8b401f"/>
    <p:sldId xmlns:r="http://schemas.openxmlformats.org/officeDocument/2006/relationships" id="261" r:id="R62e4f59bde344cf6"/>
    <p:sldId xmlns:r="http://schemas.openxmlformats.org/officeDocument/2006/relationships" id="262" r:id="Rde4d53d0f1cc46c7"/>
    <p:sldId xmlns:r="http://schemas.openxmlformats.org/officeDocument/2006/relationships" id="263" r:id="Re50740d5fb9f49ce"/>
    <p:sldId xmlns:r="http://schemas.openxmlformats.org/officeDocument/2006/relationships" id="264" r:id="Rebcf6b4ea26f4370"/>
    <p:sldId xmlns:r="http://schemas.openxmlformats.org/officeDocument/2006/relationships" id="265" r:id="R39fead5247584536"/>
    <p:sldId xmlns:r="http://schemas.openxmlformats.org/officeDocument/2006/relationships" id="266" r:id="R34b754ee474d4f89"/>
    <p:sldId xmlns:r="http://schemas.openxmlformats.org/officeDocument/2006/relationships" id="267" r:id="R733a8c7057e148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ba3712b0e24449" /><Relationship Type="http://schemas.openxmlformats.org/officeDocument/2006/relationships/slideMaster" Target="/ppt/slideMasters/slideMaster1.xml" Id="R3f279f61479f4fd6" /><Relationship Type="http://schemas.openxmlformats.org/officeDocument/2006/relationships/notesMaster" Target="/ppt/notesMasters/notesMaster1.xml" Id="R96d2fb1e08e34e38" /><Relationship Type="http://schemas.openxmlformats.org/officeDocument/2006/relationships/presProps" Target="/ppt/presProps.xml" Id="R7e5c1dda873c4c82" /><Relationship Type="http://schemas.openxmlformats.org/officeDocument/2006/relationships/tableStyles" Target="/ppt/tableStyles.xml" Id="R798a624d3d084856" /><Relationship Type="http://schemas.openxmlformats.org/officeDocument/2006/relationships/slide" Target="/ppt/slides/slide1.xml" Id="R8cb240e136f947ff" /><Relationship Type="http://schemas.openxmlformats.org/officeDocument/2006/relationships/slide" Target="/ppt/slides/slide2.xml" Id="R1664bd7c106543ce" /><Relationship Type="http://schemas.openxmlformats.org/officeDocument/2006/relationships/slide" Target="/ppt/slides/slide3.xml" Id="R5e1a5a34ef48438e" /><Relationship Type="http://schemas.openxmlformats.org/officeDocument/2006/relationships/slide" Target="/ppt/slides/slide4.xml" Id="R4f04d35b38ed4214" /><Relationship Type="http://schemas.openxmlformats.org/officeDocument/2006/relationships/slide" Target="/ppt/slides/slide5.xml" Id="Ra5dde7be3a8b401f" /><Relationship Type="http://schemas.openxmlformats.org/officeDocument/2006/relationships/slide" Target="/ppt/slides/slide6.xml" Id="R62e4f59bde344cf6" /><Relationship Type="http://schemas.openxmlformats.org/officeDocument/2006/relationships/slide" Target="/ppt/slides/slide7.xml" Id="Rde4d53d0f1cc46c7" /><Relationship Type="http://schemas.openxmlformats.org/officeDocument/2006/relationships/slide" Target="/ppt/slides/slide8.xml" Id="Re50740d5fb9f49ce" /><Relationship Type="http://schemas.openxmlformats.org/officeDocument/2006/relationships/slide" Target="/ppt/slides/slide9.xml" Id="Rebcf6b4ea26f4370" /><Relationship Type="http://schemas.openxmlformats.org/officeDocument/2006/relationships/slide" Target="/ppt/slides/slide10.xml" Id="R39fead5247584536" /><Relationship Type="http://schemas.openxmlformats.org/officeDocument/2006/relationships/slide" Target="/ppt/slides/slide11.xml" Id="R34b754ee474d4f89" /><Relationship Type="http://schemas.openxmlformats.org/officeDocument/2006/relationships/slide" Target="/ppt/slides/slide12.xml" Id="R733a8c7057e148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19487e91ab4c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32f2b273014001" /><Relationship Type="http://schemas.openxmlformats.org/officeDocument/2006/relationships/notesMaster" Target="/ppt/notesMasters/notesMaster1.xml" Id="R01ba958eb10c4a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595b326c3f40d7" /><Relationship Type="http://schemas.openxmlformats.org/officeDocument/2006/relationships/notesMaster" Target="/ppt/notesMasters/notesMaster1.xml" Id="R05dfa4117ce94e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425fc424d54e40" /><Relationship Type="http://schemas.openxmlformats.org/officeDocument/2006/relationships/notesMaster" Target="/ppt/notesMasters/notesMaster1.xml" Id="R7c6ee9dba6df4f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ae415953b645b1" /><Relationship Type="http://schemas.openxmlformats.org/officeDocument/2006/relationships/notesMaster" Target="/ppt/notesMasters/notesMaster1.xml" Id="R3ccfa0c878ef4a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9c3f917c5b48af" /><Relationship Type="http://schemas.openxmlformats.org/officeDocument/2006/relationships/notesMaster" Target="/ppt/notesMasters/notesMaster1.xml" Id="R292db95fe5e147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91a3261fd14317" /><Relationship Type="http://schemas.openxmlformats.org/officeDocument/2006/relationships/notesMaster" Target="/ppt/notesMasters/notesMaster1.xml" Id="R96b0dfe3e2e348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467dbb0ce64f70" /><Relationship Type="http://schemas.openxmlformats.org/officeDocument/2006/relationships/notesMaster" Target="/ppt/notesMasters/notesMaster1.xml" Id="R6eff4e205b3541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0bbf69dbd547b9" /><Relationship Type="http://schemas.openxmlformats.org/officeDocument/2006/relationships/notesMaster" Target="/ppt/notesMasters/notesMaster1.xml" Id="R9193610c343940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ac86656e804d73" /><Relationship Type="http://schemas.openxmlformats.org/officeDocument/2006/relationships/notesMaster" Target="/ppt/notesMasters/notesMaster1.xml" Id="R0fc2fd57907b48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e5a19e3f4b47f9" /><Relationship Type="http://schemas.openxmlformats.org/officeDocument/2006/relationships/notesMaster" Target="/ppt/notesMasters/notesMaster1.xml" Id="R441d813bb79543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911f3769fd43db" /><Relationship Type="http://schemas.openxmlformats.org/officeDocument/2006/relationships/notesMaster" Target="/ppt/notesMasters/notesMaster1.xml" Id="Rabf1b99755e645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77bf2bd454944eb" /><Relationship Type="http://schemas.openxmlformats.org/officeDocument/2006/relationships/notesMaster" Target="/ppt/notesMasters/notesMaster1.xml" Id="R01aae79be74e46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explain that the deck distinguishes supplied material, approved plans, modern orientation coordinates, and dated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navigation map for the seminar. Each family remains independently citable.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four rules govern the website and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students to distinguish a modern gazetteer marker from a historically dated evidence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website contains 160 chronology records. The six points here are an evenly spaced teaching sample, not a complete master chronology.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chapters shown here are marked Complete because the user supplied their cumulative manuscripts.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the distinction: 25 supplied English entries, 75 approved plan entries.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full 25-entry reader is interactive on the website. This slide gives its four-part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with one graph node on the website and open its source 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Assign one method to each student group; ask every group to state what its evidence cannot prove.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any claim from the site. The final answer must be narrower than or equal to the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directing participants to the interactive map, reader, history explorer, and Ideas tab.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359cee0a2b4c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16f6362178400c" /><Relationship Type="http://schemas.openxmlformats.org/officeDocument/2006/relationships/slideLayout" Target="/ppt/slideLayouts/slideLayout1.xml" Id="Ra499e0cc0f384a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99e0cc0f384a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6c707fb3c4e1c" /><Relationship Type="http://schemas.openxmlformats.org/officeDocument/2006/relationships/notesSlide" Target="/ppt/notesSlides/notesSlide1.xml" Id="R3dddba0b2be34f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b6058abe54b9b" /><Relationship Type="http://schemas.openxmlformats.org/officeDocument/2006/relationships/notesSlide" Target="/ppt/notesSlides/notesSlide2.xml" Id="Re7a3e12a145442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da5e9c48d4f0e" /><Relationship Type="http://schemas.openxmlformats.org/officeDocument/2006/relationships/notesSlide" Target="/ppt/notesSlides/notesSlide3.xml" Id="Rd5bc1e6519d345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200a092804cb7" /><Relationship Type="http://schemas.openxmlformats.org/officeDocument/2006/relationships/notesSlide" Target="/ppt/notesSlides/notesSlide4.xml" Id="R9e011b15bc9a41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f4759fa954c21" /><Relationship Type="http://schemas.openxmlformats.org/officeDocument/2006/relationships/notesSlide" Target="/ppt/notesSlides/notesSlide5.xml" Id="Rbf2ca0fb953f4b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6368215c54551" /><Relationship Type="http://schemas.openxmlformats.org/officeDocument/2006/relationships/notesSlide" Target="/ppt/notesSlides/notesSlide6.xml" Id="Rfce084b65bfe48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6072e7322448a" /><Relationship Type="http://schemas.openxmlformats.org/officeDocument/2006/relationships/notesSlide" Target="/ppt/notesSlides/notesSlide7.xml" Id="R178bb1075a9549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c532a038b47fe" /><Relationship Type="http://schemas.openxmlformats.org/officeDocument/2006/relationships/notesSlide" Target="/ppt/notesSlides/notesSlide8.xml" Id="R2020db09a0554de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1ab7a50a5042e6" /><Relationship Type="http://schemas.openxmlformats.org/officeDocument/2006/relationships/notesSlide" Target="/ppt/notesSlides/notesSlide9.xml" Id="R85f84cfeb21b47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5b3c03892420d" /><Relationship Type="http://schemas.openxmlformats.org/officeDocument/2006/relationships/notesSlide" Target="/ppt/notesSlides/notesSlide10.xml" Id="R7be16bcab7bb4c2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9e6f3b61b4469" /><Relationship Type="http://schemas.openxmlformats.org/officeDocument/2006/relationships/notesSlide" Target="/ppt/notesSlides/notesSlide11.xml" Id="R66cb247e7a8648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f5b06e7f74abc" /><Relationship Type="http://schemas.openxmlformats.org/officeDocument/2006/relationships/notesSlide" Target="/ppt/notesSlides/notesSlide12.xml" Id="R53ed5e7d626548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DD13A7-163F-4E38-946C-8E963983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E900F3-5BF0-4346-8C61-9D19CE0C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3571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4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B05659-9CA3-4743-B728-1B7952CB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MITHILA–VAJJI–ANGA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3FDB4-2679-417E-A631-F2D22C0C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Five ways into</a:t>
            </a:r>
          </a:p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Videha archive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753E3-2915-43A7-86BF-8E2F7FF0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85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3E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9D3E1"/>
                </a:solidFill>
                <a:latin typeface="Arial"/>
                <a:ea typeface="Arial"/>
                <a:cs typeface="Arial"/>
              </a:rPr>
              <a:t>A source-controlled seminar deck for histories, places, ideas, genealogy, and translation.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A9849-3316-4C9C-B9B9-19245842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8763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178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21DC5-77DF-4E75-9B45-77D05B93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371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history chapters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D70A6-A5DE-4C2B-9AFB-5485EDF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383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172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BCFF0-6B45-4F05-BC80-BEB95099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336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ideas indexed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29354-AB06-4948-BEBD-A18321C8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120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B076E-84A3-466E-AA6F-490235F1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957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A88B4-4684-47CA-89DD-AA9740F8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D3600-2754-4FF9-A5CD-D4F8F5F9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857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chronology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79585-1CDB-4DF4-A851-81C183D9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VIDEHA CLASSROOM</a:t>
            </a:r>
          </a:p>
        </p:txBody>
      </p:sp>
    </p:spTree>
    <p:extLst>
      <p:ext uri="{BB962C8B-B14F-4D97-AF65-F5344CB8AC3E}">
        <p14:creationId xmlns:p14="http://schemas.microsoft.com/office/powerpoint/2010/main" val="184258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FD3445-38CC-484A-8396-A18CA136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VIDEHA CLASSROOM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CE37E9-6E60-49ED-ADDB-638BAC81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The archive is a connected research ecosystem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E4044-66AC-441D-9588-975C15BF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7980DD-019E-4AA7-871D-6A27A543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Mithila–Vajji–Anga · Gajendra Thakur, Editor, Videha ISSN 2229-547X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6B33D-4314-43A8-86F3-B7BC0C84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B185A-9800-467A-90E0-BD43B3FC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718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35F95-B50D-4641-9E4F-87BB8C7E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90CE7-FB55-4A1B-AB79-1F0089A0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HISTORIES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5C1933-8CAE-4D7A-8B2E-1822408A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Political + socio-cultural-economic chapters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E2618B-6370-4747-9319-E8A456C1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33718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AFE46-E91E-482A-B3B0-25F6FA17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5FB84-F411-4C0E-B587-BFF7186E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PANJI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93345-48CE-4EDA-9F88-56794593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Six-volume genealogical archive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9DBC8-9DAF-4384-9C3C-FB149637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3718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0F2D7-BAAA-44BD-B8AB-507437EA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0D7CAB-7B9D-4191-8AB6-F4CAB81E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PHILOSOPHY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8A5DBD-1B7E-4A1C-BB64-283BE1B1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72 Volume I ideas + 100 Volume II ideas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F7A23E-A170-48A2-850F-5522F382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3718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8E308-3224-47C5-B431-2405BDA3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FE4CC-9978-49FC-8BBD-5B25C06F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LITERATURE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93D8F-4B01-4202-98E3-A8D042DA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A Parallel History, Tome I–IV, Volumes 1–100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0D48A-164E-4512-BD2E-C0BDD5FF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19500"/>
            <a:ext cx="33718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E36721-FD0A-4114-A44D-CD398F2B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19500"/>
            <a:ext cx="666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7221B-EA6E-4218-BBBC-2C5D6BB1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909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TRANSLATIONS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828A89-6700-43D0-ACBC-06E7C64A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71950"/>
            <a:ext cx="2990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Four major Sanskrit works in the Maithili tradition</a:t>
            </a:r>
          </a:p>
        </p:txBody>
      </p:sp>
    </p:spTree>
    <p:extLst>
      <p:ext uri="{BB962C8B-B14F-4D97-AF65-F5344CB8AC3E}">
        <p14:creationId xmlns:p14="http://schemas.microsoft.com/office/powerpoint/2010/main" val="15956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3EE7C8-84CD-4339-9BFF-AF598F8B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VIDEHA CLASSROOM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52296-A242-4A29-A217-275BBC93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Four evidence rules prevent false 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9D80F-991F-4DD9-9E6F-D266B423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F0D85-0725-4F8F-AC36-48221A08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C7D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CC7D7"/>
                </a:solidFill>
                <a:latin typeface="Arial"/>
                <a:ea typeface="Arial"/>
                <a:cs typeface="Arial"/>
              </a:rPr>
              <a:t>Mithila–Vajji–Anga · Gajendra Thakur, Editor, Videha ISSN 2229-547X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AB9D0-A08D-4A5F-9D4C-FB2D22E0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38A5B-B978-4896-B6B5-67EA6562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578F3-BA07-40DD-96AA-EE731BA2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097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Modern point ≠ historical frontier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31B07-73DD-4DEB-B25A-5C996FBB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Coordinates orient the reader; they do not reconstruct an ancient border.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59033E-46C5-48E6-84CD-FEDD5DC5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EF8B41-AB38-44A2-AA2C-0784B28A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6D0C07-7D93-4141-9D38-9DBAEF6A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908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Textual memory ≠ dated event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4A39B-ECFA-4FB6-83AE-D45188DB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9082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Traditions are evidence of transmission and meaning, not automatic calendar dates.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5A1993-89EA-4D80-8652-3E3F834E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74CF7-D156-4038-B1D2-522203ED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BA9ED4-705E-4E6F-A8F1-6475C0F7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71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term ≠ proved relation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FD718-9A8C-44DF-82A0-64A4178F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71900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The knowledge graph discovers possible links; the cited record must verify them.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41FAD-7C24-4C41-B901-18731C88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64C4F-6EA1-437C-82E3-56E6C023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38BFA4-7876-4F00-9779-29B1FE99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529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Planned ≠ supplied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4AB917-6AB8-4B1D-9951-61B08CEE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52975"/>
            <a:ext cx="533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5D0D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5D0DF"/>
                </a:solidFill>
                <a:latin typeface="Arial"/>
                <a:ea typeface="Arial"/>
                <a:cs typeface="Arial"/>
              </a:rPr>
              <a:t>Only provided chapters receive completed status or substantive summaries.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0129E-79DD-460C-8285-94F66221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8775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84676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D63912-1F87-4E76-B9E7-DEEFB5B1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VIDEHA CLASSROOM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52FCF-AB0B-4D20-A721-8108C183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Historical map: two layers, not 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06C498-5FAA-42FA-88F3-7B81297A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BA800-293A-4644-9767-6DB1F728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Mithila–Vajji–Anga · Gajendra Thakur, Editor, Videha ISSN 2229-547X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20A57-EABD-421C-A36A-3F89D2F3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387A6-83DB-4878-B96F-26F4B0DB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9E3D7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50360-C70E-4923-9757-43C2409FE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DATED EVIDENCE ANCHORS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0BDAE-2798-40ED-ADD7-B768C295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19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3C5E0-BD2B-48DE-AC2E-6E4E8A37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Kathmandu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B2DFE-2BC1-40CF-BC0E-B6D9A6E4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Archives · Sacred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9A9E4D-06B4-4002-B8A8-054E43B3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19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866D8A-832D-49A5-814F-B34B88ED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67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Simraungadh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EF6C76-5772-40C1-AC7E-02D24C04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0956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Polities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9FA9E-A6EC-4E62-B1C9-6A957B89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19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386DBE-2D50-41C9-875E-87E2FE9A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67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Janakpur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94EC1-F422-4887-918E-2F7A3E26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0956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Learning · Sacred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8BA6A-3E93-455C-875D-573016F7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19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2BF54-E782-4ABA-A3F7-45C3B55F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670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Darbhanga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C758E1-8D7B-45E2-A893-A98D005E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9562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Archives · Learning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E7059C-05E9-42D2-8EC6-704AB9AC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48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4B80D0-3A07-41EB-8788-9AF12083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Vaiśālī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C566F-430B-4838-9A6C-5FFAC4A6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Polities · Sacred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3A0578-8E5A-425A-85E7-E528459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048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8D4F03-A689-43D8-B3A2-F1CB02D1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957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Pāṭaliputra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CFF5FB-071E-45B4-919E-5B12D99A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5243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Polities · Trade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3966A8-F3F7-49F7-9C22-C8CDC7D6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48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CBE349-5C3A-46CE-A1E2-FB008701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957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Purnia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1742B1-02B7-4EF1-98B0-9B46729C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243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Archives · Trade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1594D-7BDA-4813-9D5D-312AFE35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048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492D55-96CA-4F97-8D78-435820C8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957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Campā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4BAD3A-3045-451C-BECE-1C91C976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24375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Trade · Sacred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7E4D44-8F88-4D57-90D3-D4A7F883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3771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5D3072-4842-4E60-B1C9-F5DBE915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666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F70CFA-51CC-4312-A55F-366290A4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120-place gazetteer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122D75-C142-47B1-81C3-1463B1E1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62200"/>
            <a:ext cx="33909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Sourced place records carry modern coordinates, administrative context, and a citation. They remain visible as orientation points.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A7B05D-4912-4ABD-8F8E-68285C37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37719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FCDE58-17FD-44D1-B11C-4A4C0A5D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666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327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A9F72D-18DA-4912-88A8-94A19367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340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Period + evidence filters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017B23-BAC4-46A4-8345-E408F467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33909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The year slider and five evidence layers reshape only the dated anchors. This avoids inventing territorial polygons.</a:t>
            </a:r>
          </a:p>
        </p:txBody>
      </p:sp>
    </p:spTree>
    <p:extLst>
      <p:ext uri="{BB962C8B-B14F-4D97-AF65-F5344CB8AC3E}">
        <p14:creationId xmlns:p14="http://schemas.microsoft.com/office/powerpoint/2010/main" val="8160489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674C3F-2909-45CE-8921-025E730D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VIDEHA CLASSROOM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06687-B418-440F-8AD0-CE05DE05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Chronology is a set of claims with 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45622-4253-4E4E-ACD3-AD960544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F7CF5-8193-4E38-879F-14A6FF13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C7D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CC7D7"/>
                </a:solidFill>
                <a:latin typeface="Arial"/>
                <a:ea typeface="Arial"/>
                <a:cs typeface="Arial"/>
              </a:rPr>
              <a:t>Mithila–Vajji–Anga · Gajendra Thakur, Editor, Videha ISSN 2229-547X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42BDA-8AE6-4419-844C-25A7F7F8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C3BC5-9536-4D14-834F-618ADD59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32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E087EB-68AF-4162-8979-0030A5D6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D00B2-4E28-40E6-9A97-6AFAAE8C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812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2500-200 BC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44834-833D-4748-A7A0-57892D3C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562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4DCE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4DCE7"/>
                </a:solidFill>
                <a:latin typeface="Arial"/>
                <a:ea typeface="Arial"/>
                <a:cs typeface="Arial"/>
              </a:rPr>
              <a:t>'Neolithic-Early Historic (2500-200 BC) Plant Use: The Archaeobotany of Ganga Plain, India.' Quaternary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64950-FC13-440F-AD24-A60A308A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19CB22-463C-497F-A609-6F995EB0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3812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1816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48186-B74D-4D58-AAFF-DBDB70B0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19500"/>
            <a:ext cx="1562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4DCE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4DCE7"/>
                </a:solidFill>
                <a:latin typeface="Arial"/>
                <a:ea typeface="Arial"/>
                <a:cs typeface="Arial"/>
              </a:rPr>
              <a:t>4 March 1816: Nepalese treaty received and British counterpart delivered at Makwanpur; implementation horizon of Sugauli.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9C2D96-BB9A-4012-9332-042350E7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ADE86-02DE-435C-A08F-0A0FB310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812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1939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CDAE71-3A3A-4203-8D4E-3496570E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19500"/>
            <a:ext cx="1562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606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4DCE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4DCE7"/>
                </a:solidFill>
                <a:latin typeface="Arial"/>
                <a:ea typeface="Arial"/>
                <a:cs typeface="Arial"/>
              </a:rPr>
              <a:t>The Geological Survey of India's Memoir 73, published in 1939, remains a foundational scientific account, combining intensity observations, geology, ground effects, eyewitness reports, and damage to structures and infrastructure.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7225A-E152-4CCC-9146-0EA28BA0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72953-6DC0-4612-B9AD-39D663AD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812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1976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ACA70-56F4-4F67-9FF6-EED74A18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19500"/>
            <a:ext cx="1562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4DCE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4DCE7"/>
                </a:solidFill>
                <a:latin typeface="Arial"/>
                <a:ea typeface="Arial"/>
                <a:cs typeface="Arial"/>
              </a:rPr>
              <a:t>State-supported institution established in 1976 for promotion of Maithili language and culture.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79700-532A-42D6-A57A-BE9E959B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0A96C7-5375-4ADC-83E7-8A390657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812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7D8B7-92F1-4A16-957B-E704F2AC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1562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4DCE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4DCE7"/>
                </a:solidFill>
                <a:latin typeface="Arial"/>
                <a:ea typeface="Arial"/>
                <a:cs typeface="Arial"/>
              </a:rPr>
              <a:t>This separation prevents the monument from becoming an umbrella date for an entire landscape (Falk 2006; Archaeological Survey of India, Patna Circle).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7ED28-3435-4790-8287-EB949789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CF8CF5-113B-4E36-A489-57A90857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38125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14CB68-9A86-4FD5-A071-3709C92D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19500"/>
            <a:ext cx="1562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523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D4DCE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D4DCE7"/>
                </a:solidFill>
                <a:latin typeface="Arial"/>
                <a:ea typeface="Arial"/>
                <a:cs typeface="Arial"/>
              </a:rPr>
              <a:t>Public dashboards and the politics of open hydrological data By 2026 Bihar's Water Resources Department and FMISC were publishing current barrage discharges, flood bulletins, and forecasting products online.</a:t>
            </a:r>
          </a:p>
        </p:txBody>
      </p:sp>
    </p:spTree>
    <p:extLst>
      <p:ext uri="{BB962C8B-B14F-4D97-AF65-F5344CB8AC3E}">
        <p14:creationId xmlns:p14="http://schemas.microsoft.com/office/powerpoint/2010/main" val="536537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44A2F-44A1-4336-98AD-53AF300D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VIDEHA CLASSROOM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58C41-D0E2-4C61-9884-346C378F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Supplied Volume II history: Chapters 52–73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CD80D-A19F-49D2-8E02-344A7C58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60035-5A61-4A1A-91CD-C3737355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Mithila–Vajji–Anga · Gajendra Thakur, Editor, Videha ISSN 2229-547X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C35F0-D6CD-4AC8-B6CD-F3E29381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EED8E-B71E-4DAB-9020-2D4559D9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235A46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235A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64912-7505-4C2B-9E75-ACCB22C2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chapters now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C3F3D-97DC-4024-8353-8914A413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660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E6F59-1131-4EC3-AB87-32564F23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indexed internal sections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48C4D-0366-4B38-A087-F07C0651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7810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CB876-4127-4254-B9DE-C80476E9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3016D-4597-4D9F-8103-9BE4EB63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81200"/>
            <a:ext cx="744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Chapters 52–64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7A6699-D342-40E5-B6E1-21E45D26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62200"/>
            <a:ext cx="7429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52. Mughal-Period Land, Revenue and Agrarian Society  ·  53. Trade between Bengal, Bihar, Nepal and the Gangetic World  ·  54. East India Company Expansion and the Remaking of Agrarian Relations  ·  55. Permanent Settlement and Landed Society  ·  56. Indigo and Commercial Agriculture  ·  57. Opium and Other Commodity Networks  ·  58. Famines, Scarcity and Food Security  ·  59. Colonial Surveys and the Invention of Social Categories  ·  60. Education under Colonialism  ·  61. Print Culture  ·  62. Railways, Roads and Changing Markets  ·  63. Labour Migration  ·  64. Women and Colonial Modernity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91229-1816-44A0-B421-A1C999A0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781050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E1478-0E63-485B-886B-4323498F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32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0C687-DC21-42B7-9AC3-84BAB0F9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81450"/>
            <a:ext cx="744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Chapters 65–73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BD150-5C9A-4CC6-9DCE-9A6FF4D3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362450"/>
            <a:ext cx="74295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65. The Historical India–Nepal Borderland Economy  ·  66. Janakpur as Religious, Commercial and Urban Centre  ·  67. Land, Tenancy and Agrarian Society in the Nepal Tarai  ·  68. Forest Clearance, Malaria Control and Demographic Transformation  ·  69. Migration and Settlement  ·  70. Language, Education and Cultural Institutions in Nepal  ·  71. Gender, Citizenship and Household Economy in Madhesh  ·  72. Janakpur Art, Crafts and Cultural Economy  ·  73. Border Markets, Remittances and Informal Exchange</a:t>
            </a:r>
          </a:p>
        </p:txBody>
      </p:sp>
    </p:spTree>
    <p:extLst>
      <p:ext uri="{BB962C8B-B14F-4D97-AF65-F5344CB8AC3E}">
        <p14:creationId xmlns:p14="http://schemas.microsoft.com/office/powerpoint/2010/main" val="9594074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51A8D-9063-446B-BF3C-E855C2C6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VIDEHA CLASSROOM  / 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01D281-C81D-45C1-A79F-69137E2A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Parallel Philosophy II: supplied and planned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AB7A4-CDBC-487D-A8A2-0D49299C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7443D-3743-4030-A717-0EB0723E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C7D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CC7D7"/>
                </a:solidFill>
                <a:latin typeface="Arial"/>
                <a:ea typeface="Arial"/>
                <a:cs typeface="Arial"/>
              </a:rPr>
              <a:t>Mithila–Vajji–Anga · Gajendra Thakur, Editor, Videha ISSN 2229-547X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84D7E-A035-4516-ACB2-25214344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FC533-1CC0-433A-B4A4-311644C6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1DCDC-2694-46C8-955B-87AA6373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F15113-0FA7-4FBD-8B51-E0927C48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SUPPLIED IN ENGLISH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55C03-CC94-4AC6-AF2B-B0E863B0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6712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6E8E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6E8E0"/>
                </a:solidFill>
                <a:latin typeface="Arial"/>
                <a:ea typeface="Arial"/>
                <a:cs typeface="Arial"/>
              </a:rPr>
              <a:t>English titles and source-grounded English synopses are available.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57A76F-0EA6-4F7A-9B29-6356FCF1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775B2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4B44E9-7D12-4BA3-8C75-8ED99418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383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E050F2-B228-43C5-BFB9-66A6C28AA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43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F91DC-1454-4F80-B424-F7572B39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0E2C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0E2C5"/>
                </a:solidFill>
                <a:latin typeface="Arial"/>
                <a:ea typeface="Arial"/>
                <a:cs typeface="Arial"/>
              </a:rPr>
              <a:t>Approved English chapter titles are indexed. No unsupplied argument has been invented.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A0DA6-946E-45ED-ACE7-61515167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52625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7254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BC2BE9-81A8-4C40-AF00-C5DD8E69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056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8C92F-C13B-4989-82D0-2312EBFC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432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VOLUME II TOTAL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CCEA1-6E56-4793-9BC2-7DF6DA07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D3DCE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3DCE8"/>
                </a:solidFill>
                <a:latin typeface="Arial"/>
                <a:ea typeface="Arial"/>
                <a:cs typeface="Arial"/>
              </a:rPr>
              <a:t>Ideas appears beside Explore and before Histories in the primary navigation.</a:t>
            </a:r>
          </a:p>
        </p:txBody>
      </p:sp>
    </p:spTree>
    <p:extLst>
      <p:ext uri="{BB962C8B-B14F-4D97-AF65-F5344CB8AC3E}">
        <p14:creationId xmlns:p14="http://schemas.microsoft.com/office/powerpoint/2010/main" val="11270652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92D4E-DDB2-4E8F-A232-8CBED5CF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VIDEHA CLASSROOM  / 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F384E-158E-4B05-9796-120E5926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The first 25 ideas: an English reading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732D5-552B-4086-8121-305834B8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A20921-2A9D-4DAF-9BE4-98FEBD4B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Mithila–Vajji–Anga · Gajendra Thakur, Editor, Videha ISSN 2229-547X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580A5-21BF-4E8F-8629-17790B1E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5987B-65C1-433D-B1E5-835F6EC1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52197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FDF17-8DBD-43F0-A3D2-7E6FF196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267F6F-0B42-4A7B-B06A-8CB998D1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1–6  Orientation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8E673-4EF6-4A46-B1A0-74C578E0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4838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The Second Turn in Philosophy: From Consciousness to Language · Why Philosophy Changed in the Twentieth Century · The Division between Analytic and Continental Philosophy · Where Does Indian Philosophy Sit on This Map? · Mithila’s Parallel Point of Entry · The Risks of Comparative Philosophy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D071A-2372-4FFB-BFB0-F6C9AFD5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2197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B422A3-FDC7-4437-9C86-3A4AE34A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6667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70621-30A6-4BC1-8F1B-8472072F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7–14  Analytic philosophy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748885-76C2-4753-832A-866A7C6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62200"/>
            <a:ext cx="4838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Frege: Logic, Meaning and Reference · Russell: Description, Logical Form and the World · Moore and Common Sense · Early Wittgenstein: Language, Fact, Picture and the Limits of Expression · Logical Positivism: Verification, Science and the Limits of Metaphysics · Carnap and the Question of Metaphysics · Quine: The Crisis of the Analytic–Synthetic Distinction · Analytic Philosophy and Navya-Nyāya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5A830-ADB4-49D4-914F-4897D484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2197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242C3-3710-4AFC-9828-AF3A79B2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6667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832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3A581-5CAE-48E0-AAAE-0EE27253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15–21  Language in 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F519AF-31E1-4995-842B-223419A6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4838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Later Wittgenstein: Meaning in Use · Austin: Saying Is Also Doing · Searle and Speech Acts · Can Language Be Private? · The Meaning of a Word: Object, Use or Relation? · Indian Theories of Verbal Meaning · Mithila’s Tradition of Linguistic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7E0494-411A-4422-AD02-18E721E9A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5219700" cy="1857375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F8907E-849E-4F38-89AE-F5939427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6667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4A7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96CB75-8E69-4401-80F3-68BA3937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576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22–25  Structure and structuralism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1F749-7DDC-40E7-8BDC-AB238E8E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4838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What Is Structure? · Saussure: Signifier and Signified · Lévi-Strauss: Myth and Structure · Structure and the Individual</a:t>
            </a:r>
          </a:p>
        </p:txBody>
      </p:sp>
    </p:spTree>
    <p:extLst>
      <p:ext uri="{BB962C8B-B14F-4D97-AF65-F5344CB8AC3E}">
        <p14:creationId xmlns:p14="http://schemas.microsoft.com/office/powerpoint/2010/main" val="8070099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0B06FE-748A-4C6B-B188-361CF2A8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VIDEHA CLASSROOM  / 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C3CDE-32A6-432A-843B-B7B5E47E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record to relation: a disciplined graph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9E8BB3-4780-4BE3-BAE0-787768EB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B59DD-D975-4FE0-9E20-8ABF2A4B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C7D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CC7D7"/>
                </a:solidFill>
                <a:latin typeface="Arial"/>
                <a:ea typeface="Arial"/>
                <a:cs typeface="Arial"/>
              </a:rPr>
              <a:t>Mithila–Vajji–Anga · Gajendra Thakur, Editor, Videha ISSN 2229-547X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CCC3E4-BF28-4BA7-BFC5-589443A1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C7E656-A68B-4F90-8139-4C7B472C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19075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D5900-AC54-4620-A1AD-61C7E1D1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F8674-2101-41C1-BA78-5CCC891F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860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named figures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49420-B518-424B-B883-409874DF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288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AFF47-D0F1-4475-A279-9B5D257A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95500"/>
            <a:ext cx="219075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C5CF8-6726-421E-A64E-F0E31E91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TEXTS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1EB0F7-A473-4880-944F-2A1BD966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860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books + chapters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01B1B2-FCFC-4606-A570-0BE55ABD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288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43448-95D3-464E-879D-2120378F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219075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32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93073C-A4A9-4806-A992-9F9286AA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PLACES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699D7-DBA8-4358-B3B9-3D7FECAB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6860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120 sourced locations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9E4CA-8407-47D1-B20F-58F5B1E0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2887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444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EA8BD-3D02-479E-8F69-28D122CC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19075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4A7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34C88F-A7D9-4CB6-B65F-6C94EEAB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81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IDEAS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D010E-2204-4402-9B7A-025358CA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6860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Volume I + II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BB164-687B-4D72-B6FE-5FBC7A01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Discovery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92D5DE-3547-48FE-B36F-345AF103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005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84E80-6C66-4640-B20E-211BC49F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00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Cited record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AB2774-50B5-49BF-A9A0-0F341547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DAA3B7-7F14-4783-A8BF-3214EC08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 relation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8226CF-1722-414E-AEA9-7C7F9C6C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7D1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7D1DF"/>
                </a:solidFill>
                <a:latin typeface="Arial"/>
                <a:ea typeface="Arial"/>
                <a:cs typeface="Arial"/>
              </a:rPr>
              <a:t>A shared indexed term proposes a path. It never substitutes for reading the source.</a:t>
            </a:r>
          </a:p>
        </p:txBody>
      </p:sp>
    </p:spTree>
    <p:extLst>
      <p:ext uri="{BB962C8B-B14F-4D97-AF65-F5344CB8AC3E}">
        <p14:creationId xmlns:p14="http://schemas.microsoft.com/office/powerpoint/2010/main" val="6370569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201920-9F8F-4881-BABD-535B7059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VIDEHA CLASSROOM  / 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37EA2-3D45-4473-9A4C-ED126ED9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A six-step classroom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F00D1-D0C0-400B-AEF6-C1E39D9F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7CB4F-6AF9-4FF6-B409-8B7F35FD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Mithila–Vajji–Anga · Gajendra Thakur, Editor, Videha ISSN 2229-547X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2D7B2-F6CC-4181-9432-D16FACE9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311EC-929C-4D09-A898-8D207A46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2D4FBC-F62B-416D-A075-B8CA951C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24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06509-AAC9-4DBF-BB2A-2FEEE337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00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8F4E1-18C3-4A0C-AF06-3E6424AE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431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Read a dated claim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B1862-63B5-4977-AEA0-8545C940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717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Date + claim +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020A9-2872-444F-A8E9-9C4F6E99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5262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AD633C-514B-4852-8CF2-86BE989F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24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251AE-227E-4409-8174-D65B97C1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00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5BA00-1E42-464D-910E-D878A343C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431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Map without borders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68DC13-5789-47A5-ABB5-5D4EC200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7717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Coordinate + evidence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084BCA-24D8-4714-8ED3-6AFCE685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7BBBDC-EB03-43AC-8836-2580749A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24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FFDA3-07E0-4380-AE35-2A80DFE5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002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F9BD2-DCB9-41B2-921A-2E72AE3A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4312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Open Chapters 52–73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9603E-A377-4776-986C-927F81F5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7177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Heading + section map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EA508-1DB6-43B8-9D18-598C400B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6809D-BBB9-4450-B027-5FB9F933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33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F92671-DB15-4C28-8EC5-41AD1630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0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FFBEF3-1D6A-4464-87F2-F1CF3B2F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528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Follow the linguistic turn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C11227-5EE9-4E98-B535-3DDB746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815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Available + planned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BA10C6-615D-4E42-ADEC-3C9C229D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6237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8A9AF9-3CF4-4F51-BCA5-D47EDFB1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33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390988-CACB-4B7C-B319-5B43F57C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10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548D67-55C6-434F-A74A-755C01D3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528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Test a relation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357286-A4B3-4AE1-AEBE-E5475D0C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5815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Inference + verification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7DE706-D0A8-4757-A93B-595BD980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62375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21FFFD-82CF-4DD5-BDCE-C8302787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933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05F41D-046D-4ACF-8A15-95DB8760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100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C54AFE-ED0A-4ECD-A0C5-D8EFB5A6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528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Decode a Panji record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0469B7-6A68-4CD8-B8B4-F1BC9D88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81525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Person + lineage + place</a:t>
            </a:r>
          </a:p>
        </p:txBody>
      </p:sp>
    </p:spTree>
    <p:extLst>
      <p:ext uri="{BB962C8B-B14F-4D97-AF65-F5344CB8AC3E}">
        <p14:creationId xmlns:p14="http://schemas.microsoft.com/office/powerpoint/2010/main" val="413663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A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0B8D87-7767-438B-8859-9B133C02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VIDEHA CLASSROOM  / 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3B63D-CB7D-43EC-B03C-CDFD3444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Seminar exercise: memory or evidence?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7F9C8-358C-46E6-98CA-F168D761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E3BD0-6FAD-4709-9608-443996C0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CC7D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CC7D7"/>
                </a:solidFill>
                <a:latin typeface="Arial"/>
                <a:ea typeface="Arial"/>
                <a:cs typeface="Arial"/>
              </a:rPr>
              <a:t>Mithila–Vajji–Anga · Gajendra Thakur, Editor, Videha ISSN 2229-547X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75249-AE32-4AC7-964C-2A0515C2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3832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3832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C9351-836D-4AAE-822B-67ECC8E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A75BE-DA10-4E0D-90B3-1151CA08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961D2-B4B7-43CC-887B-DDA179DA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5737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D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DE8"/>
                </a:solidFill>
                <a:latin typeface="Arial"/>
                <a:ea typeface="Arial"/>
                <a:cs typeface="Arial"/>
              </a:rPr>
              <a:t>What is actually being asserted?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40B4F-C512-4938-98D2-797199A0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214DF9-385A-4EBD-8CFB-E3B9D96D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E346F-84BF-4A1F-AE0C-A3275F37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4317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D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DE8"/>
                </a:solidFill>
                <a:latin typeface="Arial"/>
                <a:ea typeface="Arial"/>
                <a:cs typeface="Arial"/>
              </a:rPr>
              <a:t>Which text, inscription, object, map, or archive supports 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1D7E1-3866-4221-90FE-D6A2BD5F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DB9CC-3DCC-49AB-89B2-BC05E785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575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E2BA3C-CB23-40C6-BAE3-B513C473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2897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D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DE8"/>
                </a:solidFill>
                <a:latin typeface="Arial"/>
                <a:ea typeface="Arial"/>
                <a:cs typeface="Arial"/>
              </a:rPr>
              <a:t>Is the date exact, conventional, approximate, or retrospective?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43CC42-73DF-466C-BCAB-FDBB2C30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F4C34-C62A-4CCC-A13B-FA1144C8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9E2D0D-36D8-4C01-96B5-362E1CE68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1477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D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DE8"/>
                </a:solidFill>
                <a:latin typeface="Arial"/>
                <a:ea typeface="Arial"/>
                <a:cs typeface="Arial"/>
              </a:rPr>
              <a:t>Is the coordinate modern orientation or historical evidence?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3E162-18A7-4970-B1A9-A0FBD3E4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05325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7E511-AF1A-443A-8C3F-2F1D42F6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903A7-C783-4B62-8937-0573E584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60057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D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DE8"/>
                </a:solidFill>
                <a:latin typeface="Arial"/>
                <a:ea typeface="Arial"/>
                <a:cs typeface="Arial"/>
              </a:rPr>
              <a:t>Is the chapter supplied, translated, indexed, or only planned?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3E25FD-8755-453F-A7F4-30E8F725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809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384C8-A75B-4F40-9016-914712B6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250AE2-EA79-49B7-8A3D-97096E15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8637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5DDE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DE8"/>
                </a:solidFill>
                <a:latin typeface="Arial"/>
                <a:ea typeface="Arial"/>
                <a:cs typeface="Arial"/>
              </a:rPr>
              <a:t>State the strongest conclusion that the evidence warrants.</a:t>
            </a:r>
          </a:p>
        </p:txBody>
      </p:sp>
    </p:spTree>
    <p:extLst>
      <p:ext uri="{BB962C8B-B14F-4D97-AF65-F5344CB8AC3E}">
        <p14:creationId xmlns:p14="http://schemas.microsoft.com/office/powerpoint/2010/main" val="13161120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9F846-0E19-4579-8A60-491705C7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VIDEHA CLASSROOM  / 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19E66-1D2A-4A27-A01A-57344B58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Continue the research at Videha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26ED5-DAD2-4EF1-AC89-BAB9FD13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A58A2-0AE1-4E6F-8D75-D0036D93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Mithila–Vajji–Anga · Gajendra Thakur, Editor, Videha ISSN 2229-547X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2A076-664C-493E-9C0D-DAD9D6F6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82045-184A-4AF3-ACDB-15928E3C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Mithila–Vajji–Anga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7D027-1A5B-4688-9736-ED46C99F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66A1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6A14"/>
                </a:solidFill>
                <a:latin typeface="Arial"/>
                <a:ea typeface="Arial"/>
                <a:cs typeface="Arial"/>
              </a:rPr>
              <a:t>videha-ejournal.github.io/mithila-vajji-anga/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5A442-79C5-4BED-B0DE-3D306192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FCAC6-E06A-4526-92D8-75F82B3E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A4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271B86-991C-4AE6-B99D-790E2C42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Videha Maithili eJournal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90A24-6727-4FBF-8F56-39122586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457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www.videha.co.in/ · ISSN 2229-547X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870948-E4DB-4F91-A2A3-BC8FAC24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4953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7D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03D21-7176-4D5B-BCD1-98D20DAA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33750"/>
            <a:ext cx="666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6A1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2DE31-B74C-400E-825A-DB3E2EBA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0520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Videha GitHub archive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D3CCE-BFED-48F7-9F62-1ACCE417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86200"/>
            <a:ext cx="457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videha-ejournal.github.io/videha/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25033-85D5-420F-8C16-5C07CB59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1D"/>
                </a:solidFill>
                <a:latin typeface="Arial"/>
                <a:ea typeface="Arial"/>
                <a:cs typeface="Arial"/>
              </a:rPr>
              <a:t>Editor: Gajendra Thakur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92B3D5-4A00-49FD-A962-AF111CDA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69"/>
                </a:solidFill>
                <a:latin typeface="Arial"/>
                <a:ea typeface="Arial"/>
                <a:cs typeface="Arial"/>
              </a:rPr>
              <a:t>Every conclusion returns to its source and remains open to revision.</a:t>
            </a:r>
          </a:p>
        </p:txBody>
      </p:sp>
    </p:spTree>
    <p:extLst>
      <p:ext uri="{BB962C8B-B14F-4D97-AF65-F5344CB8AC3E}">
        <p14:creationId xmlns:p14="http://schemas.microsoft.com/office/powerpoint/2010/main" val="1462583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2026-09-04T12:32:28.6620000Z</dcterms:created>
  <dcterms:modified xsi:type="dcterms:W3CDTF">2026-09-04T12:32:28.6620000Z</dcterms:modified>
</coreProperties>
</file>